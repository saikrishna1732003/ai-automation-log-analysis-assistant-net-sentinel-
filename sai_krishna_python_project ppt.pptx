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462" r:id="rId3"/>
    <p:sldId id="455" r:id="rId4"/>
    <p:sldId id="456" r:id="rId5"/>
    <p:sldId id="471" r:id="rId6"/>
    <p:sldId id="457" r:id="rId7"/>
    <p:sldId id="463" r:id="rId8"/>
    <p:sldId id="466" r:id="rId9"/>
    <p:sldId id="467" r:id="rId10"/>
    <p:sldId id="464" r:id="rId11"/>
    <p:sldId id="469" r:id="rId12"/>
    <p:sldId id="273" r:id="rId13"/>
  </p:sldIdLst>
  <p:sldSz cx="12192000" cy="6858000"/>
  <p:notesSz cx="6858000" cy="9144000"/>
  <p:embeddedFontLst>
    <p:embeddedFont>
      <p:font typeface="Roboto Slab" pitchFamily="2" charset="0"/>
      <p:regular r:id="rId15"/>
      <p:bold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59"/>
    <a:srgbClr val="F5F5F5"/>
    <a:srgbClr val="000000"/>
    <a:srgbClr val="990099"/>
    <a:srgbClr val="CC3399"/>
    <a:srgbClr val="5324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6318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41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A04D3E-AB25-4865-88B1-E5CEDFA4F726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8B107A-A654-4768-8807-756F0176A7E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9341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285437" y="265677"/>
            <a:ext cx="11621126" cy="6326646"/>
            <a:chOff x="254476" y="265679"/>
            <a:chExt cx="11621126" cy="6326646"/>
          </a:xfrm>
        </p:grpSpPr>
        <p:sp>
          <p:nvSpPr>
            <p:cNvPr id="8" name="Flowchart: Manual Input 5"/>
            <p:cNvSpPr/>
            <p:nvPr userDrawn="1"/>
          </p:nvSpPr>
          <p:spPr>
            <a:xfrm rot="16200000" flipV="1">
              <a:off x="799317" y="-279162"/>
              <a:ext cx="6326646" cy="7416327"/>
            </a:xfrm>
            <a:custGeom>
              <a:avLst/>
              <a:gdLst>
                <a:gd name="connsiteX0" fmla="*/ 0 w 10000"/>
                <a:gd name="connsiteY0" fmla="*/ 2000 h 10000"/>
                <a:gd name="connsiteX1" fmla="*/ 10000 w 10000"/>
                <a:gd name="connsiteY1" fmla="*/ 0 h 10000"/>
                <a:gd name="connsiteX2" fmla="*/ 10000 w 10000"/>
                <a:gd name="connsiteY2" fmla="*/ 10000 h 10000"/>
                <a:gd name="connsiteX3" fmla="*/ 0 w 10000"/>
                <a:gd name="connsiteY3" fmla="*/ 10000 h 10000"/>
                <a:gd name="connsiteX4" fmla="*/ 0 w 10000"/>
                <a:gd name="connsiteY4" fmla="*/ 2000 h 10000"/>
                <a:gd name="connsiteX0" fmla="*/ 0 w 10000"/>
                <a:gd name="connsiteY0" fmla="*/ 3494 h 10000"/>
                <a:gd name="connsiteX1" fmla="*/ 10000 w 10000"/>
                <a:gd name="connsiteY1" fmla="*/ 0 h 10000"/>
                <a:gd name="connsiteX2" fmla="*/ 10000 w 10000"/>
                <a:gd name="connsiteY2" fmla="*/ 10000 h 10000"/>
                <a:gd name="connsiteX3" fmla="*/ 0 w 10000"/>
                <a:gd name="connsiteY3" fmla="*/ 10000 h 10000"/>
                <a:gd name="connsiteX4" fmla="*/ 0 w 10000"/>
                <a:gd name="connsiteY4" fmla="*/ 3494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3494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349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Flowchart: Manual Input 5"/>
            <p:cNvSpPr/>
            <p:nvPr userDrawn="1"/>
          </p:nvSpPr>
          <p:spPr>
            <a:xfrm rot="16200000" flipH="1">
              <a:off x="5594106" y="302528"/>
              <a:ext cx="5550769" cy="7012223"/>
            </a:xfrm>
            <a:custGeom>
              <a:avLst/>
              <a:gdLst>
                <a:gd name="connsiteX0" fmla="*/ 0 w 10000"/>
                <a:gd name="connsiteY0" fmla="*/ 2000 h 10000"/>
                <a:gd name="connsiteX1" fmla="*/ 10000 w 10000"/>
                <a:gd name="connsiteY1" fmla="*/ 0 h 10000"/>
                <a:gd name="connsiteX2" fmla="*/ 10000 w 10000"/>
                <a:gd name="connsiteY2" fmla="*/ 10000 h 10000"/>
                <a:gd name="connsiteX3" fmla="*/ 0 w 10000"/>
                <a:gd name="connsiteY3" fmla="*/ 10000 h 10000"/>
                <a:gd name="connsiteX4" fmla="*/ 0 w 10000"/>
                <a:gd name="connsiteY4" fmla="*/ 2000 h 10000"/>
                <a:gd name="connsiteX0" fmla="*/ 0 w 10000"/>
                <a:gd name="connsiteY0" fmla="*/ 3494 h 10000"/>
                <a:gd name="connsiteX1" fmla="*/ 10000 w 10000"/>
                <a:gd name="connsiteY1" fmla="*/ 0 h 10000"/>
                <a:gd name="connsiteX2" fmla="*/ 10000 w 10000"/>
                <a:gd name="connsiteY2" fmla="*/ 10000 h 10000"/>
                <a:gd name="connsiteX3" fmla="*/ 0 w 10000"/>
                <a:gd name="connsiteY3" fmla="*/ 10000 h 10000"/>
                <a:gd name="connsiteX4" fmla="*/ 0 w 10000"/>
                <a:gd name="connsiteY4" fmla="*/ 3494 h 10000"/>
                <a:gd name="connsiteX0" fmla="*/ 15 w 10015"/>
                <a:gd name="connsiteY0" fmla="*/ 3494 h 10469"/>
                <a:gd name="connsiteX1" fmla="*/ 10015 w 10015"/>
                <a:gd name="connsiteY1" fmla="*/ 0 h 10469"/>
                <a:gd name="connsiteX2" fmla="*/ 10015 w 10015"/>
                <a:gd name="connsiteY2" fmla="*/ 10000 h 10469"/>
                <a:gd name="connsiteX3" fmla="*/ 0 w 10015"/>
                <a:gd name="connsiteY3" fmla="*/ 10469 h 10469"/>
                <a:gd name="connsiteX4" fmla="*/ 15 w 10015"/>
                <a:gd name="connsiteY4" fmla="*/ 3494 h 10469"/>
                <a:gd name="connsiteX0" fmla="*/ 15 w 10015"/>
                <a:gd name="connsiteY0" fmla="*/ 3494 h 10494"/>
                <a:gd name="connsiteX1" fmla="*/ 10015 w 10015"/>
                <a:gd name="connsiteY1" fmla="*/ 0 h 10494"/>
                <a:gd name="connsiteX2" fmla="*/ 9984 w 10015"/>
                <a:gd name="connsiteY2" fmla="*/ 10494 h 10494"/>
                <a:gd name="connsiteX3" fmla="*/ 0 w 10015"/>
                <a:gd name="connsiteY3" fmla="*/ 10469 h 10494"/>
                <a:gd name="connsiteX4" fmla="*/ 15 w 10015"/>
                <a:gd name="connsiteY4" fmla="*/ 3494 h 10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15" h="10494">
                  <a:moveTo>
                    <a:pt x="15" y="3494"/>
                  </a:moveTo>
                  <a:lnTo>
                    <a:pt x="10015" y="0"/>
                  </a:lnTo>
                  <a:cubicBezTo>
                    <a:pt x="10005" y="3498"/>
                    <a:pt x="9994" y="6996"/>
                    <a:pt x="9984" y="10494"/>
                  </a:cubicBezTo>
                  <a:lnTo>
                    <a:pt x="0" y="10469"/>
                  </a:lnTo>
                  <a:lnTo>
                    <a:pt x="15" y="349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" y="1984375"/>
            <a:ext cx="59055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" y="4564063"/>
            <a:ext cx="5905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3" b="37125"/>
          <a:stretch/>
        </p:blipFill>
        <p:spPr>
          <a:xfrm>
            <a:off x="254475" y="3208830"/>
            <a:ext cx="6915786" cy="337519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639" y="379813"/>
            <a:ext cx="2760542" cy="111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703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4476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639" y="379813"/>
            <a:ext cx="2444161" cy="983068"/>
          </a:xfrm>
          <a:prstGeom prst="rect">
            <a:avLst/>
          </a:prstGeom>
        </p:spPr>
      </p:pic>
      <p:cxnSp>
        <p:nvCxnSpPr>
          <p:cNvPr id="11" name="Straight Connector 10"/>
          <p:cNvCxnSpPr/>
          <p:nvPr userDrawn="1"/>
        </p:nvCxnSpPr>
        <p:spPr>
          <a:xfrm>
            <a:off x="3090333" y="1049867"/>
            <a:ext cx="867833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3386667" y="379812"/>
            <a:ext cx="8382000" cy="670055"/>
          </a:xfr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254475" y="6502400"/>
            <a:ext cx="11683050" cy="704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itle 2"/>
          <p:cNvSpPr txBox="1">
            <a:spLocks/>
          </p:cNvSpPr>
          <p:nvPr userDrawn="1"/>
        </p:nvSpPr>
        <p:spPr>
          <a:xfrm>
            <a:off x="7956645" y="6476902"/>
            <a:ext cx="3980880" cy="4356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IN" sz="1200" b="0" dirty="0">
                <a:solidFill>
                  <a:srgbClr val="595959"/>
                </a:solidFill>
              </a:rPr>
              <a:t>REVA Academy for Corporate Excellence (RACE)</a:t>
            </a:r>
          </a:p>
        </p:txBody>
      </p:sp>
    </p:spTree>
    <p:extLst>
      <p:ext uri="{BB962C8B-B14F-4D97-AF65-F5344CB8AC3E}">
        <p14:creationId xmlns:p14="http://schemas.microsoft.com/office/powerpoint/2010/main" val="1783210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4476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Rectangle 1"/>
          <p:cNvSpPr/>
          <p:nvPr userDrawn="1"/>
        </p:nvSpPr>
        <p:spPr>
          <a:xfrm>
            <a:off x="254475" y="262783"/>
            <a:ext cx="3597858" cy="633243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0262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4476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Rectangle 1"/>
          <p:cNvSpPr/>
          <p:nvPr userDrawn="1"/>
        </p:nvSpPr>
        <p:spPr>
          <a:xfrm>
            <a:off x="254475" y="262783"/>
            <a:ext cx="2686688" cy="633243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noFill/>
              </a:ln>
            </a:endParaRP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03"/>
          <a:stretch/>
        </p:blipFill>
        <p:spPr>
          <a:xfrm>
            <a:off x="245097" y="1534163"/>
            <a:ext cx="2393627" cy="47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244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17672-D273-40A8-9069-31B0837D57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49BB6-5787-495D-AC20-623BD90004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7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17672-D273-40A8-9069-31B0837D57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49BB6-5787-495D-AC20-623BD90004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4557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17672-D273-40A8-9069-31B0837D57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49BB6-5787-495D-AC20-623BD90004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294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17672-D273-40A8-9069-31B0837D57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49BB6-5787-495D-AC20-623BD90004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21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17672-D273-40A8-9069-31B0837D57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49BB6-5787-495D-AC20-623BD90004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463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17672-D273-40A8-9069-31B0837D57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49BB6-5787-495D-AC20-623BD90004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232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17672-D273-40A8-9069-31B0837D57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49BB6-5787-495D-AC20-623BD90004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5522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17672-D273-40A8-9069-31B0837D57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49BB6-5787-495D-AC20-623BD90004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5575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17672-D273-40A8-9069-31B0837D57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49BB6-5787-495D-AC20-623BD90004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211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FBAFD22-97B6-4BF3-9496-41E458151A6B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191579" y="92974"/>
            <a:ext cx="2926334" cy="780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4234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21C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23825" y="138112"/>
            <a:ext cx="11944351" cy="65817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403412" y="1049867"/>
            <a:ext cx="1136525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3386667" y="379812"/>
            <a:ext cx="8382000" cy="670055"/>
          </a:xfr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17215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838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317672-D273-40A8-9069-31B0837D5743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1D3BC5-34EF-44B2-83AC-D5533E46F0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41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8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84" r:id="rId14"/>
    <p:sldLayoutId id="214748368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6611" y="1754587"/>
            <a:ext cx="6248255" cy="1998307"/>
          </a:xfrm>
        </p:spPr>
        <p:txBody>
          <a:bodyPr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dirty="0">
                <a:solidFill>
                  <a:schemeClr val="accent1"/>
                </a:solidFill>
                <a:cs typeface="Arial" panose="020B0604020202020204" pitchFamily="34" charset="0"/>
              </a:rPr>
              <a:t>Topic: </a:t>
            </a:r>
            <a:r>
              <a:rPr lang="en-IN" sz="2800" dirty="0">
                <a:solidFill>
                  <a:schemeClr val="tx2">
                    <a:lumMod val="75000"/>
                  </a:schemeClr>
                </a:solidFill>
              </a:rPr>
              <a:t>AI Automation &amp; Log Analysis Assistant (Net Sentinel)</a:t>
            </a:r>
            <a:br>
              <a:rPr lang="en-IN" sz="2800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en-US" sz="2800" b="1" dirty="0">
                <a:solidFill>
                  <a:schemeClr val="accent2"/>
                </a:solidFill>
                <a:cs typeface="Arial" panose="020B0604020202020204" pitchFamily="34" charset="0"/>
              </a:rPr>
              <a:t>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4994" y="3752894"/>
            <a:ext cx="5905500" cy="762076"/>
          </a:xfrm>
        </p:spPr>
        <p:txBody>
          <a:bodyPr>
            <a:no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Name of the Presenter : Sai Krishna K M </a:t>
            </a:r>
          </a:p>
          <a:p>
            <a:pPr algn="r"/>
            <a:r>
              <a:rPr lang="en-US" sz="20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Batch :  M-Tech Cyber Security (</a:t>
            </a:r>
            <a:r>
              <a:rPr lang="en-US" sz="2000" b="1" dirty="0">
                <a:solidFill>
                  <a:schemeClr val="bg1"/>
                </a:solidFill>
                <a:cs typeface="Arial" panose="020B0604020202020204" pitchFamily="34" charset="0"/>
              </a:rPr>
              <a:t>CS 16 )</a:t>
            </a:r>
            <a:endParaRPr lang="en-US" sz="2000" b="1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 algn="r"/>
            <a:r>
              <a:rPr lang="en-US" sz="20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Assignment name: Python Project</a:t>
            </a: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5513418" y="6119446"/>
            <a:ext cx="6175069" cy="35260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lnSpc>
                <a:spcPct val="100000"/>
              </a:lnSpc>
            </a:pPr>
            <a:r>
              <a:rPr lang="en-IN" sz="1600" dirty="0">
                <a:solidFill>
                  <a:schemeClr val="bg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www.race.reva.edu.in</a:t>
            </a:r>
          </a:p>
        </p:txBody>
      </p:sp>
      <p:sp>
        <p:nvSpPr>
          <p:cNvPr id="8" name="Title 2"/>
          <p:cNvSpPr txBox="1">
            <a:spLocks/>
          </p:cNvSpPr>
          <p:nvPr/>
        </p:nvSpPr>
        <p:spPr>
          <a:xfrm>
            <a:off x="6646333" y="271291"/>
            <a:ext cx="5267501" cy="5798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IN" sz="1400" b="1" dirty="0">
                <a:solidFill>
                  <a:srgbClr val="595959"/>
                </a:solidFill>
              </a:rPr>
              <a:t>REVA Academy for Corporate Excellence (RACE)</a:t>
            </a:r>
          </a:p>
        </p:txBody>
      </p:sp>
      <p:sp>
        <p:nvSpPr>
          <p:cNvPr id="9" name="Title 2"/>
          <p:cNvSpPr txBox="1">
            <a:spLocks/>
          </p:cNvSpPr>
          <p:nvPr/>
        </p:nvSpPr>
        <p:spPr>
          <a:xfrm>
            <a:off x="516611" y="2995224"/>
            <a:ext cx="4127234" cy="5798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2400" dirty="0">
                <a:solidFill>
                  <a:srgbClr val="595959"/>
                </a:solidFill>
              </a:rPr>
              <a:t>Date: 23/03/2026</a:t>
            </a:r>
          </a:p>
        </p:txBody>
      </p:sp>
    </p:spTree>
    <p:extLst>
      <p:ext uri="{BB962C8B-B14F-4D97-AF65-F5344CB8AC3E}">
        <p14:creationId xmlns:p14="http://schemas.microsoft.com/office/powerpoint/2010/main" val="1697186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of Content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EA292B-FD19-8642-E30C-92E90B730808}"/>
              </a:ext>
            </a:extLst>
          </p:cNvPr>
          <p:cNvSpPr txBox="1"/>
          <p:nvPr/>
        </p:nvSpPr>
        <p:spPr>
          <a:xfrm>
            <a:off x="1175657" y="2948472"/>
            <a:ext cx="8780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76DD640-F9ED-3771-767E-23003B3BDF7B}"/>
              </a:ext>
            </a:extLst>
          </p:cNvPr>
          <p:cNvGrpSpPr/>
          <p:nvPr/>
        </p:nvGrpSpPr>
        <p:grpSpPr>
          <a:xfrm>
            <a:off x="694673" y="1531122"/>
            <a:ext cx="5543424" cy="945969"/>
            <a:chOff x="1848112" y="1575921"/>
            <a:chExt cx="5635970" cy="89189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7A866CF-7B51-FE17-1B4D-036BD335CC88}"/>
                </a:ext>
              </a:extLst>
            </p:cNvPr>
            <p:cNvSpPr txBox="1"/>
            <p:nvPr/>
          </p:nvSpPr>
          <p:spPr>
            <a:xfrm>
              <a:off x="2724408" y="2213900"/>
              <a:ext cx="450769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ea typeface="FZShuTi" pitchFamily="2" charset="-122"/>
                  <a:cs typeface="Arial" pitchFamily="34" charset="0"/>
                </a:rPr>
                <a:t>.</a:t>
              </a:r>
              <a:endPara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4BDDB8-0858-559F-08AB-BDB1B2733949}"/>
                </a:ext>
              </a:extLst>
            </p:cNvPr>
            <p:cNvSpPr txBox="1"/>
            <p:nvPr/>
          </p:nvSpPr>
          <p:spPr>
            <a:xfrm>
              <a:off x="2976390" y="1716690"/>
              <a:ext cx="4507692" cy="377239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r>
                <a:rPr lang="en-US" altLang="ko-KR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Introduction</a:t>
              </a:r>
              <a:endPara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DF76CEE-0C82-32EA-2269-66574AD9C3BB}"/>
                </a:ext>
              </a:extLst>
            </p:cNvPr>
            <p:cNvSpPr txBox="1"/>
            <p:nvPr/>
          </p:nvSpPr>
          <p:spPr>
            <a:xfrm>
              <a:off x="1848112" y="1575921"/>
              <a:ext cx="958096" cy="646331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pPr algn="ctr"/>
              <a:r>
                <a:rPr lang="en-US" altLang="ko-KR" sz="3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Arial" pitchFamily="34" charset="0"/>
                </a:rPr>
                <a:t>01</a:t>
              </a:r>
              <a:endParaRPr lang="ko-KR" alt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A7B3F5C-2D7A-D3FB-5F24-ABBC5D647E52}"/>
              </a:ext>
            </a:extLst>
          </p:cNvPr>
          <p:cNvGrpSpPr/>
          <p:nvPr/>
        </p:nvGrpSpPr>
        <p:grpSpPr>
          <a:xfrm>
            <a:off x="694673" y="2666100"/>
            <a:ext cx="5383988" cy="891895"/>
            <a:chOff x="1848112" y="1575921"/>
            <a:chExt cx="5383988" cy="89189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D692B29-240E-C610-F1F6-2C5FF3BBFE86}"/>
                </a:ext>
              </a:extLst>
            </p:cNvPr>
            <p:cNvSpPr txBox="1"/>
            <p:nvPr/>
          </p:nvSpPr>
          <p:spPr>
            <a:xfrm>
              <a:off x="2724408" y="2213900"/>
              <a:ext cx="450769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DB9D226-4B56-FB60-5637-5A90E9BB1160}"/>
                </a:ext>
              </a:extLst>
            </p:cNvPr>
            <p:cNvSpPr txBox="1"/>
            <p:nvPr/>
          </p:nvSpPr>
          <p:spPr>
            <a:xfrm>
              <a:off x="2617831" y="1668893"/>
              <a:ext cx="4507692" cy="400110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r>
                <a:rPr lang="en-US" altLang="ko-KR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Problem statement &amp; Objective</a:t>
              </a:r>
              <a:endPara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12C3E37-26F6-EBD7-FB5C-6448B7D40091}"/>
                </a:ext>
              </a:extLst>
            </p:cNvPr>
            <p:cNvSpPr txBox="1"/>
            <p:nvPr/>
          </p:nvSpPr>
          <p:spPr>
            <a:xfrm>
              <a:off x="1848112" y="1575921"/>
              <a:ext cx="958096" cy="646331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pPr algn="ctr"/>
              <a:r>
                <a:rPr lang="en-US" altLang="ko-KR" sz="3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Arial" pitchFamily="34" charset="0"/>
                </a:rPr>
                <a:t>02</a:t>
              </a:r>
              <a:endParaRPr lang="ko-KR" alt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83009D8-BF65-2433-F337-F0F73361D760}"/>
              </a:ext>
            </a:extLst>
          </p:cNvPr>
          <p:cNvGrpSpPr/>
          <p:nvPr/>
        </p:nvGrpSpPr>
        <p:grpSpPr>
          <a:xfrm>
            <a:off x="694673" y="3801078"/>
            <a:ext cx="5580433" cy="891895"/>
            <a:chOff x="1848112" y="1575921"/>
            <a:chExt cx="5580433" cy="89189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BAFD75-A7D0-4DDF-CC7A-630568DBFB72}"/>
                </a:ext>
              </a:extLst>
            </p:cNvPr>
            <p:cNvSpPr txBox="1"/>
            <p:nvPr/>
          </p:nvSpPr>
          <p:spPr>
            <a:xfrm>
              <a:off x="2724408" y="2213900"/>
              <a:ext cx="450769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2B877D-9D93-C299-5723-80E012453205}"/>
                </a:ext>
              </a:extLst>
            </p:cNvPr>
            <p:cNvSpPr txBox="1"/>
            <p:nvPr/>
          </p:nvSpPr>
          <p:spPr>
            <a:xfrm>
              <a:off x="2920853" y="1688445"/>
              <a:ext cx="4507692" cy="400110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r>
                <a:rPr lang="en-IN" sz="2000" dirty="0"/>
                <a:t>System Architecture</a:t>
              </a:r>
              <a:endParaRPr lang="ko-KR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476E426-2C3F-DF71-24A6-3F2BFFDCC23C}"/>
                </a:ext>
              </a:extLst>
            </p:cNvPr>
            <p:cNvSpPr txBox="1"/>
            <p:nvPr/>
          </p:nvSpPr>
          <p:spPr>
            <a:xfrm>
              <a:off x="1848112" y="1575921"/>
              <a:ext cx="958096" cy="646331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pPr algn="ctr"/>
              <a:r>
                <a:rPr lang="en-US" altLang="ko-KR" sz="3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Arial" pitchFamily="34" charset="0"/>
                </a:rPr>
                <a:t>03</a:t>
              </a:r>
              <a:endParaRPr lang="ko-KR" alt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09F41F0-91DE-0793-BF43-C89DF154419E}"/>
              </a:ext>
            </a:extLst>
          </p:cNvPr>
          <p:cNvGrpSpPr/>
          <p:nvPr/>
        </p:nvGrpSpPr>
        <p:grpSpPr>
          <a:xfrm>
            <a:off x="704004" y="4936055"/>
            <a:ext cx="5383988" cy="891895"/>
            <a:chOff x="1848112" y="1575921"/>
            <a:chExt cx="5383988" cy="89189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C585E4-2A0D-8725-6FB2-0E7630623E5E}"/>
                </a:ext>
              </a:extLst>
            </p:cNvPr>
            <p:cNvSpPr txBox="1"/>
            <p:nvPr/>
          </p:nvSpPr>
          <p:spPr>
            <a:xfrm>
              <a:off x="2724408" y="2213900"/>
              <a:ext cx="450769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90E2CA4-C5AA-B7C5-1933-90D25A7EA44A}"/>
                </a:ext>
              </a:extLst>
            </p:cNvPr>
            <p:cNvSpPr txBox="1"/>
            <p:nvPr/>
          </p:nvSpPr>
          <p:spPr>
            <a:xfrm>
              <a:off x="2663678" y="1699031"/>
              <a:ext cx="4507692" cy="400110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r>
                <a:rPr lang="en-IN" sz="2000" dirty="0"/>
                <a:t>   </a:t>
              </a:r>
              <a:r>
                <a: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Rule-Based Detection Engine</a:t>
              </a:r>
              <a:endParaRPr lang="ko-KR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4D47318-515B-17C4-6C47-EF4391B2FEE9}"/>
                </a:ext>
              </a:extLst>
            </p:cNvPr>
            <p:cNvSpPr txBox="1"/>
            <p:nvPr/>
          </p:nvSpPr>
          <p:spPr>
            <a:xfrm>
              <a:off x="1848112" y="1575921"/>
              <a:ext cx="958096" cy="646331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pPr algn="ctr"/>
              <a:r>
                <a:rPr lang="en-US" altLang="ko-KR" sz="3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Arial" pitchFamily="34" charset="0"/>
                </a:rPr>
                <a:t>04</a:t>
              </a:r>
              <a:endParaRPr lang="ko-KR" alt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C0A1BA9-E9BF-2124-12DF-1C6CD4FCD6FA}"/>
              </a:ext>
            </a:extLst>
          </p:cNvPr>
          <p:cNvGrpSpPr/>
          <p:nvPr/>
        </p:nvGrpSpPr>
        <p:grpSpPr>
          <a:xfrm>
            <a:off x="6096000" y="1531122"/>
            <a:ext cx="5383988" cy="891895"/>
            <a:chOff x="1848112" y="1575921"/>
            <a:chExt cx="5383988" cy="89189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864FC42-2529-DD35-2D18-D6D233A3A8AA}"/>
                </a:ext>
              </a:extLst>
            </p:cNvPr>
            <p:cNvSpPr txBox="1"/>
            <p:nvPr/>
          </p:nvSpPr>
          <p:spPr>
            <a:xfrm>
              <a:off x="2724408" y="2213900"/>
              <a:ext cx="450769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79E49A-E379-F79E-6453-DA743CD77390}"/>
                </a:ext>
              </a:extLst>
            </p:cNvPr>
            <p:cNvSpPr txBox="1"/>
            <p:nvPr/>
          </p:nvSpPr>
          <p:spPr>
            <a:xfrm>
              <a:off x="2705936" y="1789403"/>
              <a:ext cx="4507692" cy="400110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r>
                <a: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Types of Attacks Detected</a:t>
              </a:r>
              <a:endParaRPr lang="ko-KR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C3AFCFC-C879-B2D2-4D38-C182457E7910}"/>
                </a:ext>
              </a:extLst>
            </p:cNvPr>
            <p:cNvSpPr txBox="1"/>
            <p:nvPr/>
          </p:nvSpPr>
          <p:spPr>
            <a:xfrm>
              <a:off x="1848112" y="1575921"/>
              <a:ext cx="958096" cy="646331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pPr algn="ctr"/>
              <a:r>
                <a:rPr lang="en-US" altLang="ko-KR" sz="3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Arial" pitchFamily="34" charset="0"/>
                </a:rPr>
                <a:t>05</a:t>
              </a:r>
              <a:endParaRPr lang="ko-KR" alt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D934EAE-4355-B8DB-5110-8EEA48AB749D}"/>
              </a:ext>
            </a:extLst>
          </p:cNvPr>
          <p:cNvGrpSpPr/>
          <p:nvPr/>
        </p:nvGrpSpPr>
        <p:grpSpPr>
          <a:xfrm>
            <a:off x="6027262" y="2636499"/>
            <a:ext cx="5553893" cy="891895"/>
            <a:chOff x="1848112" y="1575921"/>
            <a:chExt cx="5553893" cy="891895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A9B5EB-03D0-9A3F-1442-EA615306BF2E}"/>
                </a:ext>
              </a:extLst>
            </p:cNvPr>
            <p:cNvSpPr txBox="1"/>
            <p:nvPr/>
          </p:nvSpPr>
          <p:spPr>
            <a:xfrm>
              <a:off x="2724408" y="2213900"/>
              <a:ext cx="450769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905A459-2AF3-EECE-AC86-6F8F7F4C45B1}"/>
                </a:ext>
              </a:extLst>
            </p:cNvPr>
            <p:cNvSpPr txBox="1"/>
            <p:nvPr/>
          </p:nvSpPr>
          <p:spPr>
            <a:xfrm>
              <a:off x="2894313" y="1668893"/>
              <a:ext cx="4507692" cy="400110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r>
                <a:rPr lang="en-IN" altLang="ko-KR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AI &amp; Automation &amp; AI Agent</a:t>
              </a:r>
              <a:endPara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3EC622D-5C4D-3487-2492-DEA82E81F800}"/>
                </a:ext>
              </a:extLst>
            </p:cNvPr>
            <p:cNvSpPr txBox="1"/>
            <p:nvPr/>
          </p:nvSpPr>
          <p:spPr>
            <a:xfrm>
              <a:off x="1848112" y="1575921"/>
              <a:ext cx="958096" cy="646331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pPr algn="ctr"/>
              <a:r>
                <a:rPr lang="en-US" altLang="ko-KR" sz="3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Arial" pitchFamily="34" charset="0"/>
                </a:rPr>
                <a:t>06</a:t>
              </a:r>
              <a:endParaRPr lang="ko-KR" alt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69D91A-0591-CAD3-200C-00815ADB7616}"/>
              </a:ext>
            </a:extLst>
          </p:cNvPr>
          <p:cNvGrpSpPr/>
          <p:nvPr/>
        </p:nvGrpSpPr>
        <p:grpSpPr>
          <a:xfrm>
            <a:off x="6127809" y="3820364"/>
            <a:ext cx="5334840" cy="872609"/>
            <a:chOff x="1897260" y="1595207"/>
            <a:chExt cx="5334840" cy="872609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D024793-66D6-D4E6-ABBC-B8B6BBDD54A8}"/>
                </a:ext>
              </a:extLst>
            </p:cNvPr>
            <p:cNvSpPr txBox="1"/>
            <p:nvPr/>
          </p:nvSpPr>
          <p:spPr>
            <a:xfrm>
              <a:off x="2724408" y="2213900"/>
              <a:ext cx="450769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C361822-BC2A-A872-1DF8-7DE014EDF3F2}"/>
                </a:ext>
              </a:extLst>
            </p:cNvPr>
            <p:cNvSpPr txBox="1"/>
            <p:nvPr/>
          </p:nvSpPr>
          <p:spPr>
            <a:xfrm>
              <a:off x="2572753" y="1725253"/>
              <a:ext cx="4507692" cy="400110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r>
                <a:rPr lang="en-IN" sz="2000" dirty="0"/>
                <a:t>    </a:t>
              </a:r>
              <a:r>
                <a: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Report Generation</a:t>
              </a:r>
              <a:endParaRPr lang="ko-KR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8B7ADEB-727D-647D-959B-8E09400CFDAD}"/>
                </a:ext>
              </a:extLst>
            </p:cNvPr>
            <p:cNvSpPr txBox="1"/>
            <p:nvPr/>
          </p:nvSpPr>
          <p:spPr>
            <a:xfrm>
              <a:off x="1897260" y="1595207"/>
              <a:ext cx="958096" cy="646331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pPr algn="ctr"/>
              <a:r>
                <a:rPr lang="en-US" altLang="ko-KR" sz="3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Arial" pitchFamily="34" charset="0"/>
                </a:rPr>
                <a:t>07</a:t>
              </a:r>
              <a:endParaRPr lang="ko-KR" alt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B5823AC-8573-7204-55CC-04AD7ABE3C5C}"/>
              </a:ext>
            </a:extLst>
          </p:cNvPr>
          <p:cNvGrpSpPr/>
          <p:nvPr/>
        </p:nvGrpSpPr>
        <p:grpSpPr>
          <a:xfrm>
            <a:off x="6060189" y="4936055"/>
            <a:ext cx="5383988" cy="891895"/>
            <a:chOff x="1848112" y="1575921"/>
            <a:chExt cx="5383988" cy="89189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DED2003-9604-E7A5-54B0-1B33CF1784E2}"/>
                </a:ext>
              </a:extLst>
            </p:cNvPr>
            <p:cNvSpPr txBox="1"/>
            <p:nvPr/>
          </p:nvSpPr>
          <p:spPr>
            <a:xfrm>
              <a:off x="2724408" y="2213900"/>
              <a:ext cx="450769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77EF6F2-1661-3A40-D8C4-E3AD982360C2}"/>
                </a:ext>
              </a:extLst>
            </p:cNvPr>
            <p:cNvSpPr txBox="1"/>
            <p:nvPr/>
          </p:nvSpPr>
          <p:spPr>
            <a:xfrm>
              <a:off x="2705936" y="1789403"/>
              <a:ext cx="4507692" cy="400110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r>
                <a:rPr lang="en-I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Conclusion</a:t>
              </a:r>
              <a:endParaRPr lang="ko-KR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E12AA63-EB7D-BDE8-FC02-ABD836547636}"/>
                </a:ext>
              </a:extLst>
            </p:cNvPr>
            <p:cNvSpPr txBox="1"/>
            <p:nvPr/>
          </p:nvSpPr>
          <p:spPr>
            <a:xfrm>
              <a:off x="1848112" y="1575921"/>
              <a:ext cx="1013274" cy="646331"/>
            </a:xfrm>
            <a:prstGeom prst="rect">
              <a:avLst/>
            </a:prstGeom>
            <a:noFill/>
          </p:spPr>
          <p:txBody>
            <a:bodyPr wrap="square" lIns="108000" rIns="108000" rtlCol="0">
              <a:spAutoFit/>
            </a:bodyPr>
            <a:lstStyle/>
            <a:p>
              <a:pPr algn="ctr"/>
              <a:r>
                <a:rPr lang="en-US" altLang="ko-KR" sz="3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Arial" pitchFamily="34" charset="0"/>
                </a:rPr>
                <a:t>08</a:t>
              </a:r>
              <a:endParaRPr lang="ko-KR" alt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443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713238" y="383709"/>
            <a:ext cx="8382000" cy="670055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FFADFB-03EF-A210-B59A-2406708761FE}"/>
              </a:ext>
            </a:extLst>
          </p:cNvPr>
          <p:cNvSpPr txBox="1"/>
          <p:nvPr/>
        </p:nvSpPr>
        <p:spPr>
          <a:xfrm>
            <a:off x="1253412" y="1961003"/>
            <a:ext cx="951722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build an AI-powered log analysis system that automatically detects cyber threats in network logs without requiring any external APIs, paid libraries, or commercial licensing.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security is critical in modern organizations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volumes of logs are generated daily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analysis is inefficient and slow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automates log monitoring and threat detection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Organizations generate millions of logs daily. Manual review takes 150+ days to detect a breach. My system automates this using AI, reducing detection time to under 40 milliseconds.</a:t>
            </a:r>
          </a:p>
          <a:p>
            <a:pPr marL="0" indent="0" algn="just">
              <a:buNone/>
            </a:pPr>
            <a:endParaRPr lang="en-IN" dirty="0">
              <a:effectLst/>
              <a:latin typeface="Times New Roman" panose="02020603050405020304" pitchFamily="18" charset="0"/>
              <a:ea typeface="Arial M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1336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261079" y="122752"/>
            <a:ext cx="8382000" cy="670055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D826083-18E2-47BB-A0D0-7ECB991453A9}"/>
              </a:ext>
            </a:extLst>
          </p:cNvPr>
          <p:cNvSpPr txBox="1"/>
          <p:nvPr/>
        </p:nvSpPr>
        <p:spPr>
          <a:xfrm>
            <a:off x="8455189" y="3495860"/>
            <a:ext cx="2876316" cy="261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.       </a:t>
            </a:r>
            <a:endParaRPr lang="ko-KR" altLang="en-US" sz="110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Arial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98CBC6-71E4-027F-2FF8-084BBFFE1C8F}"/>
              </a:ext>
            </a:extLst>
          </p:cNvPr>
          <p:cNvSpPr txBox="1"/>
          <p:nvPr/>
        </p:nvSpPr>
        <p:spPr>
          <a:xfrm>
            <a:off x="1427584" y="1688841"/>
            <a:ext cx="79776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There is a need for a cost-effective, automated, and intelligent log analysis system that can operate without expensive commercial SIEM tools and detect multiple types of cyber attacks in real-time within educational environments</a:t>
            </a:r>
          </a:p>
        </p:txBody>
      </p:sp>
    </p:spTree>
    <p:extLst>
      <p:ext uri="{BB962C8B-B14F-4D97-AF65-F5344CB8AC3E}">
        <p14:creationId xmlns:p14="http://schemas.microsoft.com/office/powerpoint/2010/main" val="41426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A8A07-B234-3CB4-3D4E-10E320B17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  <a:endParaRPr lang="en-IN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1E0ABEF-6BBF-E736-D467-0F5A81EC87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070" y="2063140"/>
            <a:ext cx="7781730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Automate log monitoring and analysis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Detect suspicious activities and threats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Enable easy interaction using AI assistant </a:t>
            </a:r>
          </a:p>
        </p:txBody>
      </p:sp>
    </p:spTree>
    <p:extLst>
      <p:ext uri="{BB962C8B-B14F-4D97-AF65-F5344CB8AC3E}">
        <p14:creationId xmlns:p14="http://schemas.microsoft.com/office/powerpoint/2010/main" val="158181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6667" y="379813"/>
            <a:ext cx="8382000" cy="599902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Log is processed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7" name="그룹 5">
            <a:extLst>
              <a:ext uri="{FF2B5EF4-FFF2-40B4-BE49-F238E27FC236}">
                <a16:creationId xmlns:a16="http://schemas.microsoft.com/office/drawing/2014/main" id="{AAA75684-0C35-4490-9FB6-CD0F836ED54E}"/>
              </a:ext>
            </a:extLst>
          </p:cNvPr>
          <p:cNvGrpSpPr/>
          <p:nvPr/>
        </p:nvGrpSpPr>
        <p:grpSpPr>
          <a:xfrm>
            <a:off x="1620320" y="2820721"/>
            <a:ext cx="5166932" cy="470129"/>
            <a:chOff x="6104806" y="2944738"/>
            <a:chExt cx="4032448" cy="470129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9C186BC-5562-415A-AF37-6735F6E8D48E}"/>
                </a:ext>
              </a:extLst>
            </p:cNvPr>
            <p:cNvSpPr txBox="1"/>
            <p:nvPr/>
          </p:nvSpPr>
          <p:spPr>
            <a:xfrm>
              <a:off x="6109889" y="3160951"/>
              <a:ext cx="40273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</a:t>
              </a:r>
              <a:endPara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58F6627-EDD2-444F-AE0D-E6F4002CD970}"/>
                </a:ext>
              </a:extLst>
            </p:cNvPr>
            <p:cNvSpPr txBox="1"/>
            <p:nvPr/>
          </p:nvSpPr>
          <p:spPr>
            <a:xfrm>
              <a:off x="6104806" y="2944738"/>
              <a:ext cx="40324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41" name="그룹 4">
            <a:extLst>
              <a:ext uri="{FF2B5EF4-FFF2-40B4-BE49-F238E27FC236}">
                <a16:creationId xmlns:a16="http://schemas.microsoft.com/office/drawing/2014/main" id="{BDC416A0-4C81-4F52-A90B-76F6DA00D15F}"/>
              </a:ext>
            </a:extLst>
          </p:cNvPr>
          <p:cNvGrpSpPr/>
          <p:nvPr/>
        </p:nvGrpSpPr>
        <p:grpSpPr>
          <a:xfrm>
            <a:off x="1620320" y="3965774"/>
            <a:ext cx="5166932" cy="470129"/>
            <a:chOff x="6104806" y="3882717"/>
            <a:chExt cx="4032448" cy="470129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66304BB-79B0-46F7-9ACC-C682C92A4C36}"/>
                </a:ext>
              </a:extLst>
            </p:cNvPr>
            <p:cNvSpPr txBox="1"/>
            <p:nvPr/>
          </p:nvSpPr>
          <p:spPr>
            <a:xfrm>
              <a:off x="6109889" y="4098930"/>
              <a:ext cx="40273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</a:t>
              </a:r>
              <a:endPara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2A6D667-DDBB-4896-A157-DA45267CE610}"/>
                </a:ext>
              </a:extLst>
            </p:cNvPr>
            <p:cNvSpPr txBox="1"/>
            <p:nvPr/>
          </p:nvSpPr>
          <p:spPr>
            <a:xfrm>
              <a:off x="6104806" y="3882717"/>
              <a:ext cx="40324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AE682765-42D1-4AED-BF77-C71E6184D640}"/>
              </a:ext>
            </a:extLst>
          </p:cNvPr>
          <p:cNvSpPr txBox="1"/>
          <p:nvPr/>
        </p:nvSpPr>
        <p:spPr>
          <a:xfrm>
            <a:off x="-2038067" y="3637167"/>
            <a:ext cx="51669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0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2C30FBA-AAF1-B0CB-7919-CF850DB7279B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1091682" y="1844976"/>
            <a:ext cx="10120603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Pcap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txt, csv.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→ Used for testing and validation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Web Dashboard with Login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→ User-friendly interface for monitoring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SHA-256 Authentication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→ Secure password encryption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Export Options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→ Generate reports in PDF, CSV, JSON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NLP Chatbot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→ Provides human-readable explanations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Risk Scoring System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→ Classifies threats (Low / Medium / High)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Anomaly Detection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→ Identifies unusual behavior patterns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838118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7144-7472-B02E-EEBA-810645EBB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Overview &amp; Architecture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6DCED70-34F7-C8D2-6C18-6BC819E0A626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175657" y="1851856"/>
            <a:ext cx="484258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web-based security monitoring system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Processes logs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Uses rule-based detection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Generates alerts, reports, and firewall rules 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4DE9D63-3A13-E8C2-422C-9297B449E493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447453" y="1261638"/>
            <a:ext cx="433873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Log Input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collects data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Rule Engine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detects attacks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Risk Score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assigns severity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AI Summary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human-readable output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Firewall Rules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blocks attacker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Report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detailed analysis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Alerts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notify admin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DFAB58-9014-EDF6-D3B7-E254B1C99E82}"/>
              </a:ext>
            </a:extLst>
          </p:cNvPr>
          <p:cNvSpPr/>
          <p:nvPr/>
        </p:nvSpPr>
        <p:spPr>
          <a:xfrm>
            <a:off x="746449" y="4889242"/>
            <a:ext cx="8285584" cy="587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 Input → Rule Engine → Risk Score → AI Summary → Firewall → Report</a:t>
            </a:r>
          </a:p>
        </p:txBody>
      </p:sp>
    </p:spTree>
    <p:extLst>
      <p:ext uri="{BB962C8B-B14F-4D97-AF65-F5344CB8AC3E}">
        <p14:creationId xmlns:p14="http://schemas.microsoft.com/office/powerpoint/2010/main" val="3163495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F1C38-B7C6-669A-0C3D-8B2FB6A21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&amp; Automation in the System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2ED67BF-C895-6F9C-ACA0-6648FD6A0A74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34482" y="1414528"/>
            <a:ext cx="3303036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Automatic log analysis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Automatic attack detectio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Auto risk scoring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Auto report generation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Auto firewall rule creation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Auto alert system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0A153F-0F37-AB9D-EB45-303E9343FBD9}"/>
              </a:ext>
            </a:extLst>
          </p:cNvPr>
          <p:cNvSpPr/>
          <p:nvPr/>
        </p:nvSpPr>
        <p:spPr>
          <a:xfrm>
            <a:off x="1035698" y="5029200"/>
            <a:ext cx="8985380" cy="9983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For example: if a brute force attack is detected, the system automatically identifies the attacker IP, assigns a high risk score, generates a firewall rule to block it, and sends an alert to the administrator</a:t>
            </a:r>
            <a:endParaRPr lang="en-IN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2407E0A-0D64-1258-CED7-62CB4B162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0963" y="1449710"/>
            <a:ext cx="6008916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Rule-Based AI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Applies predefined logic to detect threats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NLP (Natural Language Generation)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summaries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Works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offline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Fast and explainable decision-making </a:t>
            </a:r>
          </a:p>
        </p:txBody>
      </p:sp>
    </p:spTree>
    <p:extLst>
      <p:ext uri="{BB962C8B-B14F-4D97-AF65-F5344CB8AC3E}">
        <p14:creationId xmlns:p14="http://schemas.microsoft.com/office/powerpoint/2010/main" val="34511714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EEFA9-496E-353D-2A1B-CEE03D220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C3119C-794F-17AF-FA58-C19DA9155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506" y="1529454"/>
            <a:ext cx="4372619" cy="21188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2B1693A-B412-8F7B-FB12-AC9C9DA04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8719" y="1529454"/>
            <a:ext cx="4632154" cy="21188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BE4875-9AB7-8D2D-ED35-6DE7BCF9A1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3447" y="3854576"/>
            <a:ext cx="7270544" cy="239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419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ABAB8-84FA-0006-234B-971DCEBC4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Rule-Based Detection Engine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FEABC59-CEB6-7AF0-0DB3-CFCCA7B28255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1296955" y="1737578"/>
            <a:ext cx="373224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Rules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Uses predefined IF-THEN rules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Detects: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Brute force attacks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Port scanning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SQL Injection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Fast and explainable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18F772-9F5E-FAC5-0E67-1459FFB54E59}"/>
              </a:ext>
            </a:extLst>
          </p:cNvPr>
          <p:cNvSpPr txBox="1"/>
          <p:nvPr/>
        </p:nvSpPr>
        <p:spPr>
          <a:xfrm>
            <a:off x="6736702" y="1599079"/>
            <a:ext cx="464664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Attacks Detected</a:t>
            </a: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Brute Force Attack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Port Scan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SQL Injection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XSS Attack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ARP Poisoning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Data Theft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C2 Beaconing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A246FEDC-DFBD-3B4A-83E5-F56548F6216D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110343" y="4288954"/>
            <a:ext cx="475861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IF multiple ports accessed → THEN Port Scan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IF many login failures → THEN Brute Force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IF port = 3389 → THEN Unauthorized RD </a:t>
            </a:r>
          </a:p>
        </p:txBody>
      </p:sp>
    </p:spTree>
    <p:extLst>
      <p:ext uri="{BB962C8B-B14F-4D97-AF65-F5344CB8AC3E}">
        <p14:creationId xmlns:p14="http://schemas.microsoft.com/office/powerpoint/2010/main" val="3032941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2603-3655-B2BD-2DB9-3C1A1F521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FD7C14B-DB8F-9268-177E-BE4A70C3C8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740" y="3162634"/>
            <a:ext cx="10872928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Provides automated network monitoring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Detects and responds to threats efficiently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Improves overall security management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automates log analysis, risk scoring, and response generation, reducing manual effort.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is efficient, fast, and capable of identifying multiple types of cyber attacks.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Overall, it enhances network security through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automation and intelligent analysis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03B760-BDAF-CA5E-8EFF-3B50A4938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02" y="1578299"/>
            <a:ext cx="9144000" cy="170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886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6993" y="1776401"/>
            <a:ext cx="3711482" cy="363379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10416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ustom 5">
      <a:majorFont>
        <a:latin typeface="Roboto Slab"/>
        <a:ea typeface=""/>
        <a:cs typeface=""/>
      </a:majorFont>
      <a:minorFont>
        <a:latin typeface="Roboto Slab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4017</TotalTime>
  <Words>669</Words>
  <Application>Microsoft Office PowerPoint</Application>
  <PresentationFormat>Widescreen</PresentationFormat>
  <Paragraphs>132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Times New Roman</vt:lpstr>
      <vt:lpstr>Calibri</vt:lpstr>
      <vt:lpstr>Roboto Slab</vt:lpstr>
      <vt:lpstr>Office Theme</vt:lpstr>
      <vt:lpstr>Topic: AI Automation &amp; Log Analysis Assistant (Net Sentinel) .</vt:lpstr>
      <vt:lpstr>Table of Content</vt:lpstr>
      <vt:lpstr>Introduction</vt:lpstr>
      <vt:lpstr>Problem Statement</vt:lpstr>
      <vt:lpstr>Objective</vt:lpstr>
      <vt:lpstr>How Log is processed</vt:lpstr>
      <vt:lpstr>System Overview &amp; Architecture</vt:lpstr>
      <vt:lpstr> AI &amp; Automation in the System</vt:lpstr>
      <vt:lpstr>Implementation</vt:lpstr>
      <vt:lpstr>Rule-Based Detection Engine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 User</dc:creator>
  <cp:lastModifiedBy>SAI KRISHNA K M</cp:lastModifiedBy>
  <cp:revision>257</cp:revision>
  <dcterms:created xsi:type="dcterms:W3CDTF">2020-01-23T06:03:51Z</dcterms:created>
  <dcterms:modified xsi:type="dcterms:W3CDTF">2026-04-06T05:18:09Z</dcterms:modified>
</cp:coreProperties>
</file>